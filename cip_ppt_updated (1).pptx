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1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7" r:id="rId6"/>
    <p:sldId id="261" r:id="rId7"/>
    <p:sldId id="304" r:id="rId8"/>
    <p:sldId id="305" r:id="rId9"/>
    <p:sldId id="264" r:id="rId10"/>
    <p:sldId id="311" r:id="rId11"/>
    <p:sldId id="309" r:id="rId12"/>
    <p:sldId id="307" r:id="rId13"/>
    <p:sldId id="308" r:id="rId14"/>
    <p:sldId id="310" r:id="rId15"/>
    <p:sldId id="301" r:id="rId16"/>
    <p:sldId id="302" r:id="rId17"/>
    <p:sldId id="303" r:id="rId18"/>
    <p:sldId id="30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>
        <p:scale>
          <a:sx n="75" d="100"/>
          <a:sy n="75" d="100"/>
        </p:scale>
        <p:origin x="974" y="120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?>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F74E-3B2E-4EB3-9B29-B4B77B0879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BAC26-3D8C-4AD7-B252-016CA76EE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843294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7751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40806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2546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1047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6062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3570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324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6130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2665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Pitch Deck</a:t>
            </a:r>
            <a:endParaRPr lang="en-US" noProof="0" dirty="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673" r:id="rId13"/>
    <p:sldLayoutId id="2147483699" r:id="rId14"/>
    <p:sldLayoutId id="2147483700" r:id="rId15"/>
    <p:sldLayoutId id="2147483692" r:id="rId16"/>
    <p:sldLayoutId id="2147483681" r:id="rId17"/>
    <p:sldLayoutId id="214748369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hyperlink" Target="http://www.kanchiuniv.ac.in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BB2BB5-2B6E-A6C8-4E19-1DB6DD54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36" y="178888"/>
            <a:ext cx="1335693" cy="1335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5A3D9-DDF7-5E2A-0E9B-19B210CE869F}"/>
              </a:ext>
            </a:extLst>
          </p:cNvPr>
          <p:cNvSpPr txBox="1"/>
          <p:nvPr/>
        </p:nvSpPr>
        <p:spPr>
          <a:xfrm>
            <a:off x="1651000" y="178888"/>
            <a:ext cx="9371227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SRI CHANDRASEKHARENDRA SARASWATHI VISWAMAHA VIDHYALAYA</a:t>
            </a:r>
          </a:p>
          <a:p>
            <a:pPr algn="ctr"/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(Deemed to be university u/s 3 of UGC act 1956)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(Accredited with “A” by NAAC)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Enathur, Kanchipuram – 631561. Tamilnadu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www.kanchiuniv.ac.in</a:t>
            </a:r>
            <a:endParaRPr lang="en-US" sz="1000" b="1" i="0" u="sng" strike="noStrike" cap="none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1400" b="1" u="sng" dirty="0">
              <a:solidFill>
                <a:schemeClr val="hlink"/>
              </a:solidFill>
              <a:latin typeface="Arial"/>
              <a:ea typeface="Calibri"/>
              <a:cs typeface="Arial"/>
              <a:sym typeface="Arial"/>
            </a:endParaRPr>
          </a:p>
          <a:p>
            <a:pPr algn="ctr"/>
            <a:r>
              <a:rPr lang="en-US" b="1" u="sng" dirty="0">
                <a:solidFill>
                  <a:srgbClr val="002060"/>
                </a:solidFill>
                <a:latin typeface="Arial"/>
                <a:ea typeface="Calibri"/>
                <a:cs typeface="Arial"/>
                <a:sym typeface="Arial"/>
              </a:rPr>
              <a:t>DEPARTMENT  OF  COMPUTER  SCIENCE AND ENGINEERING</a:t>
            </a:r>
            <a:br>
              <a:rPr lang="en-US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EAD7C0-7AB1-D53C-1C89-D00A9178EBAD}"/>
              </a:ext>
            </a:extLst>
          </p:cNvPr>
          <p:cNvSpPr txBox="1">
            <a:spLocks/>
          </p:cNvSpPr>
          <p:nvPr/>
        </p:nvSpPr>
        <p:spPr>
          <a:xfrm>
            <a:off x="226781" y="1664413"/>
            <a:ext cx="11845353" cy="5140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BCSF186Z90</a:t>
            </a:r>
            <a:r>
              <a:rPr lang="en-US" sz="2800" b="0" i="0" u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 xml:space="preserve">-CIP </a:t>
            </a:r>
            <a:r>
              <a:rPr lang="en-US" sz="2800" b="0" i="0" u="none" cap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Project</a:t>
            </a:r>
            <a:r>
              <a:rPr lang="en-US" sz="2800" b="0" i="0" u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 xml:space="preserve"> </a:t>
            </a:r>
            <a:r>
              <a:rPr lang="en-US" sz="2800" b="0" i="0" u="none" cap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Work</a:t>
            </a:r>
            <a:r>
              <a:rPr lang="en-US" sz="2800" b="0" i="0" u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 xml:space="preserve"> </a:t>
            </a:r>
            <a:endParaRPr lang="en-US" sz="1800" cap="none" dirty="0">
              <a:effectLst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endParaRPr lang="en-US" sz="1000" b="0" i="0" u="none" dirty="0">
              <a:solidFill>
                <a:srgbClr val="92D050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3000" cap="none" dirty="0">
                <a:solidFill>
                  <a:schemeClr val="dk2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 xml:space="preserve">Zomato Restaurant Analytics Dashboard </a:t>
            </a:r>
          </a:p>
          <a:p>
            <a:pPr algn="ctr"/>
            <a:r>
              <a:rPr lang="en-US" sz="2400" cap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>11239AO34</a:t>
            </a:r>
            <a:r>
              <a:rPr lang="en-US" sz="2400" b="0" i="0" u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 xml:space="preserve"> </a:t>
            </a:r>
            <a:r>
              <a:rPr lang="en-US" sz="2400" cap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>-</a:t>
            </a:r>
            <a:r>
              <a:rPr lang="en-US" sz="2400" b="0" i="0" u="none" cap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 xml:space="preserve"> </a:t>
            </a:r>
            <a:r>
              <a:rPr lang="en-US" sz="2400" cap="none" dirty="0" err="1">
                <a:solidFill>
                  <a:srgbClr val="7030A0"/>
                </a:solidFill>
                <a:ea typeface="Arial"/>
                <a:cs typeface="Arial"/>
                <a:sym typeface="Arial"/>
              </a:rPr>
              <a:t>M.Hariharan</a:t>
            </a:r>
            <a:endParaRPr lang="en-US" sz="2400" cap="none" dirty="0">
              <a:sym typeface="Arial"/>
            </a:endParaRPr>
          </a:p>
          <a:p>
            <a:pPr algn="ctr"/>
            <a:r>
              <a:rPr lang="en-US" sz="2400" cap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>11239M009</a:t>
            </a:r>
            <a:r>
              <a:rPr lang="en-US" sz="2400" b="0" i="0" u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 xml:space="preserve"> </a:t>
            </a:r>
            <a:r>
              <a:rPr lang="en-US" sz="2400" cap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 xml:space="preserve">- </a:t>
            </a:r>
            <a:r>
              <a:rPr lang="en-US" sz="2400" cap="none" dirty="0" err="1">
                <a:solidFill>
                  <a:srgbClr val="7030A0"/>
                </a:solidFill>
                <a:ea typeface="Arial"/>
                <a:cs typeface="Arial"/>
                <a:sym typeface="Arial"/>
              </a:rPr>
              <a:t>S.Srirangarajan</a:t>
            </a:r>
            <a:endParaRPr lang="en-US" sz="2400" cap="none" dirty="0"/>
          </a:p>
          <a:p>
            <a:pPr algn="ctr"/>
            <a:endParaRPr lang="en-US" sz="3200" b="0" i="0" u="none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2800" b="0" i="0" u="none" cap="none" dirty="0">
                <a:solidFill>
                  <a:srgbClr val="00B0F0"/>
                </a:solidFill>
                <a:ea typeface="Arial"/>
                <a:cs typeface="Arial"/>
                <a:sym typeface="Arial"/>
              </a:rPr>
              <a:t>Guided By</a:t>
            </a:r>
            <a:endParaRPr lang="en-US" sz="2800" b="0" i="0" u="none" cap="none" dirty="0">
              <a:solidFill>
                <a:srgbClr val="92D050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2800" cap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 xml:space="preserve">Dr. </a:t>
            </a:r>
            <a:r>
              <a:rPr lang="en-US" sz="2400" b="0" i="0" u="none" cap="none" dirty="0" err="1">
                <a:solidFill>
                  <a:srgbClr val="7030A0"/>
                </a:solidFill>
                <a:ea typeface="Arial"/>
                <a:cs typeface="Arial"/>
                <a:sym typeface="Arial"/>
              </a:rPr>
              <a:t>V.Geetha</a:t>
            </a:r>
            <a:r>
              <a:rPr lang="en-US" sz="2400" cap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>, Assistant Professor, Dept. of CSE</a:t>
            </a:r>
            <a:endParaRPr lang="en-US" sz="1800" cap="none" dirty="0">
              <a:effectLst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endParaRPr lang="en-US" sz="2800" dirty="0"/>
          </a:p>
          <a:p>
            <a:r>
              <a:rPr lang="en-US" sz="2400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University Review</a:t>
            </a:r>
            <a:r>
              <a:rPr lang="en-US" sz="24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: 29-04-2026</a:t>
            </a:r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 fontScale="25000" lnSpcReduction="20000"/>
          </a:bodyPr>
          <a:lstStyle/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r>
              <a:rPr lang="en-US" sz="9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:</a:t>
            </a:r>
            <a:endParaRPr lang="en-US" sz="9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• </a:t>
            </a:r>
            <a:r>
              <a:rPr lang="en-US" sz="8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This project presents a self-hosted, full-stack restaurant analytics  dashboard built using Flask, Pandas, Leaflet.js, and Chart.js, targeting  multi-city restaurant data analysis.  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8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ingests a structured CSV dataset containing 100 restaurant  records across 8 Indian cities with 21 features per record.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8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A RESTful backend with 9 API endpoints enables dynamic filtering,  pagination, and aggregation of restaurant data in real time.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8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The frontend renders 6 interactive data visualizations, an OpenStreetMap  with 100 geolocation markers, 8 KPI cards, and a paginated data explorer. 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8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The system requires zero commercial </a:t>
            </a:r>
            <a:r>
              <a:rPr lang="en-US" sz="8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licences</a:t>
            </a:r>
            <a:r>
              <a:rPr lang="en-US" sz="8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and is deployable via a  standard pip install, making it suitable for academic and SME use cases.</a:t>
            </a:r>
            <a:endParaRPr lang="en-US" sz="8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Keywords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: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– 6 in alphabetical order</a:t>
            </a:r>
            <a:endParaRPr lang="en-US" sz="2400" dirty="0"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                   Zomato Restaurant Analytics Dashboard </a:t>
            </a:r>
          </a:p>
          <a:p>
            <a:pPr algn="just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               — A Full-Stack Data Analytics Application </a:t>
            </a:r>
            <a:endParaRPr lang="en-US" sz="3200" cap="none" dirty="0"/>
          </a:p>
        </p:txBody>
      </p:sp>
      <p:sp>
        <p:nvSpPr>
          <p:cNvPr id="999" name="Slide Number Placeholder 9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Zomato Restaurant Analytics Dashboard — A Full-Stack Data Analytics Application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</a:p>
          <a:p>
            <a:pPr marL="273050" indent="-273050" algn="l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Restaurant stakeholders — including food entrepreneurs, market researchers, and platform analysts — require rapid, actionable insights on multi-city restaurant trends such as value-for-money cities, underserved cuisine segments, and rating-driving factors.</a:t>
            </a:r>
          </a:p>
          <a:p>
            <a:pPr marL="273050" indent="-273050" algn="l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commercial tools such as Tableau and Power BI require paid licences and cloud dependencies, making them inaccessible for academic projects and small businesses.</a:t>
            </a:r>
          </a:p>
          <a:p>
            <a:pPr marL="273050" indent="-273050" algn="l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CSV inspection via spreadsheet software lacks interactivity and scalability, and cannot perform real-time query-based filtering or geospatial visualization.</a:t>
            </a:r>
          </a:p>
          <a:p>
            <a:pPr marL="273050" indent="-273050" algn="l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open-source, self-hosted web application currently offers an integrated solution for interactive, filter-driven Zomato dataset analysis with geospatial visualization, real-time KPI computation, and paginated data exploration.</a:t>
            </a:r>
          </a:p>
          <a:p>
            <a:pPr marL="273050" indent="-273050" algn="l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addresses that gap by engineering a complete full-stack analytics dashboard — deployable within a zero-licence, pip-installable environment, suitable for academic and SME use cases.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</a:t>
            </a:r>
          </a:p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999" name="Slide Number Placeholder 9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Zomato Restaurant Analytics Dashboard — A Full-Stack Data Analytics Application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50" name="LitSurveyHeader"/>
          <p:cNvSpPr txBox="1">
            <a:spLocks/>
          </p:cNvSpPr>
          <p:nvPr/>
        </p:nvSpPr>
        <p:spPr>
          <a:xfrm>
            <a:off x="300000" y="1200000"/>
            <a:ext cx="11215473" cy="5200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alibri"/>
              </a:rPr>
              <a:t>Literature Survey</a:t>
            </a:r>
          </a:p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Zomato Restaurant Analytics Dashboard  |  B.Tech IT — Semester VI  |  SCSVMV University</a:t>
            </a:r>
          </a:p>
        </p:txBody>
      </p:sp>
      <p:graphicFrame>
        <p:nvGraphicFramePr>
          <p:cNvPr id="3" name="LitSurveyTable"/>
          <p:cNvGraphicFramePr>
            <a:graphicFrameLocks noGrp="1"/>
          </p:cNvGraphicFramePr>
          <p:nvPr/>
        </p:nvGraphicFramePr>
        <p:xfrm>
          <a:off x="300000" y="1780000"/>
          <a:ext cx="11215473" cy="480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5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Journal Name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Journal of Information Systems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Iyer &amp; Krishnan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Query parameter-based REST API with pagination &amp; dynamic filtering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Server-side pagination and dynamic filtering significantly reduce API response payload and server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Journal of Systems and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Reddy &amp; Nair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Full-stack Python web app using Flask + Pandas + D3.js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Three-tier MVC architecture reduces frontend-backend coupling and improves maintainability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International Journal of Human-Computer Studies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Mehta &amp; Joshi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Chart.js dashboard for e-commerce KPI 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Doughnut and bar charts outperform tabular views for executive-level decision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IEEE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Sharma, Rao &amp; Pillai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Leaflet.js geospatial clustering for urban POI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Colour-coded circle marker overlays improve user spatial engagement by ~40% over static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International Journal of Data Science and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Patil &amp; Deshmukh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Pandas groupby + Matplotlib for restaurant-level EDA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City-level cuisine frequency analysis reveals distinct regional dietary preferences across Indian metros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Journal of Web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Kumar, Sharma &amp; Gupta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Flask REST API + SQLite backend for food delivery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Lightweight Flask APIs achieve sub-100ms response time for datasets up to 10,000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International Journal of Computer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Arora &amp; Sinha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NLP-based Sentiment Analysis on Zomato review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User reviews strongly correlate with aggregate ratings; negative reviews dominate low-rated outlets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99" name="Slide Number Placeholder 9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39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Zomato Restaurant Analytics Dashboard — A Full-Stack Data Analytics Application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4810A5-17B8-056B-F779-E0122B268448}"/>
              </a:ext>
            </a:extLst>
          </p:cNvPr>
          <p:cNvSpPr txBox="1">
            <a:spLocks/>
          </p:cNvSpPr>
          <p:nvPr/>
        </p:nvSpPr>
        <p:spPr>
          <a:xfrm>
            <a:off x="582204" y="1315091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Existing system  &amp;   its  Drawbacks </a:t>
            </a:r>
          </a:p>
          <a:p>
            <a:pPr algn="l"/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Current restaurant analytics solutions include commercial BI platforms(Tableau, Power BI) and cloud-based tools (Google Data Studio, </a:t>
            </a:r>
            <a:r>
              <a:rPr lang="en-US" sz="2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Metabase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)that connect to live databases. These tools offer rich dashboards </a:t>
            </a:r>
            <a:r>
              <a:rPr lang="en-US" sz="2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butrequire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paid </a:t>
            </a:r>
            <a:r>
              <a:rPr lang="en-US" sz="2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licences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, cloud hosting, and proprietary connectors. </a:t>
            </a:r>
          </a:p>
          <a:p>
            <a:pPr algn="l"/>
            <a:r>
              <a:rPr lang="en-US" sz="2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Academicand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small-scale users typically resort to manual Excel/CSV inspection, </a:t>
            </a:r>
            <a:r>
              <a:rPr lang="en-US" sz="2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whichlacks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dynamic filtering, geospatial visualization, and real-time </a:t>
            </a:r>
            <a:r>
              <a:rPr lang="en-US" sz="2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aggregation.Drawbacks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/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• Commercial </a:t>
            </a:r>
            <a:r>
              <a:rPr lang="en-US" sz="2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Licence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Dependency — Tools like Tableau and Power BI require  paid subscriptions, limiting accessibility for academic projects and SMEs.</a:t>
            </a:r>
          </a:p>
          <a:p>
            <a:pPr algn="l"/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 Geospatial Integration — Existing open-source CSV viewers do not support  map-based visualizations with GPS coordinate rendering.</a:t>
            </a:r>
          </a:p>
          <a:p>
            <a:pPr algn="l"/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Static Analysis Only — Spreadsheet tools (Excel, Google Sheets) cannot  perform real-time query-based filtering with API-driven data retrieval.</a:t>
            </a:r>
          </a:p>
          <a:p>
            <a:pPr algn="l"/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Scalability Limitations — Manual analysis breaks down beyond a few hundred  rows; no pagination or server-side aggregation is supported.</a:t>
            </a:r>
          </a:p>
          <a:p>
            <a:pPr algn="l"/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Lack of Modular Architecture — Existing ad-hoc tools do not separate data,  logic, and presentation layers, making extension and maintenance difficult.</a:t>
            </a:r>
          </a:p>
          <a:p>
            <a:endParaRPr lang="en-US" sz="2600" dirty="0">
              <a:solidFill>
                <a:prstClr val="black"/>
              </a:solidFill>
              <a:ea typeface="Times New Roman"/>
              <a:cs typeface="Times New Roman"/>
              <a:sym typeface="Times New Roman"/>
            </a:endParaRPr>
          </a:p>
          <a:p>
            <a:endParaRPr lang="en-US" sz="2400" dirty="0">
              <a:solidFill>
                <a:prstClr val="black"/>
              </a:solidFill>
              <a:ea typeface="Times New Roman"/>
              <a:cs typeface="Times New Roman"/>
              <a:sym typeface="Times New Roman"/>
            </a:endParaRPr>
          </a:p>
          <a:p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endParaRPr lang="en-US" sz="2600" b="1" dirty="0">
              <a:solidFill>
                <a:prstClr val="black">
                  <a:lumMod val="75000"/>
                  <a:lumOff val="25000"/>
                </a:prstClr>
              </a:solidFill>
              <a:cs typeface="Times New Roman" panose="02020603050405020304" pitchFamily="18" charset="0"/>
            </a:endParaRPr>
          </a:p>
          <a:p>
            <a:endParaRPr lang="en-US" sz="2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99" name="Slide Number Placeholder 9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9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B23088-0B35-2A01-08F8-3A6DA3B7A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Zomato Restaurant Analytics Dashboard — A Full-Stack Data Analytics Application</a:t>
            </a:r>
            <a:endParaRPr lang="en-US" sz="3200" cap="none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8607483-3FBE-A524-AD73-005CCD4A4C44}"/>
              </a:ext>
            </a:extLst>
          </p:cNvPr>
          <p:cNvSpPr txBox="1">
            <a:spLocks/>
          </p:cNvSpPr>
          <p:nvPr/>
        </p:nvSpPr>
        <p:spPr>
          <a:xfrm>
            <a:off x="582204" y="1315091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</a:t>
            </a: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 / Modules description/ Architecture /Algorithm used/   	Methodology, etc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endParaRPr lang="en-US"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26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endParaRPr lang="en-US" sz="26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B5B0E6-7BDA-33BF-05F9-CDB39EABB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454" y="2264325"/>
            <a:ext cx="8192643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4222-9EA7-C5E6-C6F0-6464F856A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2" y="365125"/>
            <a:ext cx="10341077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OUTPUT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E0DB626-79AC-AB0A-DE89-80C288A02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BCC85-B9BF-671F-5917-82C917BE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F87CB-043C-C991-DCE2-0C05D2A09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74498-50F5-60BA-F14F-22DCC31C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20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D97DC18-9A53-AB0F-A644-DFF597A59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916" y="136525"/>
            <a:ext cx="10738556" cy="60404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5B5F7-AAC0-DE08-CF55-F916F56E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E3920-3492-4D4C-B342-FC8295A3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D7A82-4B79-7B11-9F72-E787C16A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16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AA217C-EA8D-CBA6-0631-381798F67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675" y="511175"/>
            <a:ext cx="10072512" cy="56657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4BA0D-168A-462A-8459-BDC5E1D1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B50D6-629B-65A2-16A3-1F0346D3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888A7-8A57-C53B-40BD-FDFDADC7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33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8C7888-3ECD-E0BB-55FA-CBB89F3F8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231" y="590550"/>
            <a:ext cx="9931400" cy="55864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2938E-BF42-73E4-59CF-F4F203CA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D2999-1102-499F-6086-62790AE1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28D8D-84B3-C34F-F399-A5D422696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13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1F437AF-DD16-CCA4-293B-EA3888498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977" y="530225"/>
            <a:ext cx="10038645" cy="56467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5C441-AED5-E1C9-3295-49F0039C3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43D5F-4FAA-8637-5E73-63BB381F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4D12A-9840-9FB0-2ADC-4BEDA2DB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098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 fontScale="62500" lnSpcReduction="20000"/>
          </a:bodyPr>
          <a:lstStyle/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dirty="0"/>
              <a:t>• The dashboard was successfully developed without any commercial dependencies, making it accessible for academic and small business deployments.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dirty="0"/>
              <a:t>• A three-tier architecture ensures clean separation of concerns, enabling independent development and testing of each system layer.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dirty="0"/>
              <a:t>• Nine RESTful API endpoints provide real-time filtering, aggregation, and pagination, demonstrating practical API design for analytics systems.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dirty="0"/>
              <a:t>• Geospatial mapping enables meaningful spatial understanding of restaurant quality distribution across eight Indian cities.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dirty="0"/>
              <a:t>• The project proves that professional-grade interactive data analytics dashboards are fully achievable within academic and SME contexts using freely available open-source tools.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              </a:t>
            </a:r>
            <a:r>
              <a:rPr lang="en-IN" sz="1600" cap="none" dirty="0"/>
              <a:t xml:space="preserve"> </a:t>
            </a:r>
            <a:r>
              <a:rPr lang="en-IN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 lang="en-US" sz="3200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99" name="Slide Number Placeholder 9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760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 fontScale="70000" lnSpcReduction="20000"/>
          </a:bodyPr>
          <a:lstStyle/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dirty="0"/>
              <a:t>• Real-time data integration with automatic daily updates for live rating and vote tracking.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dirty="0"/>
              <a:t>• Scalable database support to handle a significantly larger number of restaurant records with faster query performance.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dirty="0"/>
              <a:t>• A recommendation engine to suggest restaurants based on user preferences and historical data patterns.</a:t>
            </a:r>
          </a:p>
          <a:p>
            <a:pPr marL="273050" lvl="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dirty="0"/>
              <a:t>• Multi-user login with role-based access control and the ability to export charts and tables for enterprise and research use.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26692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 </a:t>
            </a:r>
            <a:r>
              <a:rPr lang="en-IN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Future Enhancement</a:t>
            </a:r>
          </a:p>
        </p:txBody>
      </p:sp>
      <p:sp>
        <p:nvSpPr>
          <p:cNvPr id="999" name="Slide Number Placeholder 9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0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 fontScale="70000" lnSpcReduction="20000"/>
          </a:bodyPr>
          <a:lstStyle/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[1] D. Reddy and S. Nair, "Three-Tier MVC Architecture for Python-Based    Data-Driven Web Applications," Journal of Systems and Software,    vol. 198, pp. 111–126, 2024.</a:t>
            </a: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[2] P. Mehta and A. Joshi, "Chart.js-Based Interactive KPI Dashboard Design for    E-Commerce Analytics," International Journal of Human-Computer Studies,    vol. 172, pp. 102–115, 2023.</a:t>
            </a: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[3] V. Sharma, K. Rao, and T. Pillai, "Geospatial Visualization of Urban Points    of Interest Using Leaflet.js and OpenStreetMap," IEEE Access, vol. 11,    pp. 43210–43225, 2023.</a:t>
            </a: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[4] R. Patil and S. Deshmukh, "Exploratory Data Analysis of Indian Restaurant    Dataset Using Pandas and Matplotlib," International Journal of Data Science    and Analytics, vol. 5, no. 2, pp. 88–97, 2022.</a:t>
            </a: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[5] A. Kumar, P. Sharma, and M. Gupta, "Lightweight REST API Design for Food    Delivery Analytics Using Flask and SQLite," Journal of Web Engineering,    vol. 21, no. 4, pp. 512–530, 2022.</a:t>
            </a: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[6] S. Arora and R. Sinha, "Sentiment Analysis of Restaurant Reviews Using NLP    Techniques on Zomato Dataset," International Journal of Computer Applications,    vol. 183, no. 12, pp. 1–6, 2021.</a:t>
            </a: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999" name="Slide Number Placeholder 9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78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613" y="884903"/>
            <a:ext cx="10862187" cy="52920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6600" dirty="0"/>
          </a:p>
          <a:p>
            <a:pPr marL="0" indent="0" algn="ctr">
              <a:buNone/>
            </a:pPr>
            <a:endParaRPr lang="en-US" sz="6600" dirty="0"/>
          </a:p>
          <a:p>
            <a:pPr marL="0" indent="0" algn="ctr">
              <a:buNone/>
            </a:pPr>
            <a:r>
              <a:rPr lang="en-US" sz="7200" dirty="0"/>
              <a:t>THANK YOU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01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FFFA3F-0FB5-4ED3-8906-A15B16577F44}">
  <ds:schemaRefs>
    <ds:schemaRef ds:uri="71af3243-3dd4-4a8d-8c0d-dd76da1f02a5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</TotalTime>
  <Words>1436</Words>
  <Application>Microsoft Office PowerPoint</Application>
  <PresentationFormat>Widescreen</PresentationFormat>
  <Paragraphs>165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Noto Sans Symbols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DHURGA SHREE.K.C</dc:creator>
  <cp:lastModifiedBy>Sathyamoorthy G</cp:lastModifiedBy>
  <cp:revision>61</cp:revision>
  <dcterms:created xsi:type="dcterms:W3CDTF">2025-03-05T00:42:20Z</dcterms:created>
  <dcterms:modified xsi:type="dcterms:W3CDTF">2026-04-25T10:05:48Z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